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256" r:id="rId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448" autoAdjust="0"/>
    <p:restoredTop sz="94660"/>
  </p:normalViewPr>
  <p:slideViewPr>
    <p:cSldViewPr snapToGrid="0">
      <p:cViewPr varScale="1">
        <p:scale>
          <a:sx n="124" d="100"/>
          <a:sy n="124" d="100"/>
        </p:scale>
        <p:origin x="186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D0D18-651F-4A46-859B-18BB334FF18F}" type="datetimeFigureOut">
              <a:rPr lang="en-US" smtClean="0"/>
              <a:t>10/21/25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5C071-BCC8-42AF-A783-D0D9F3CF46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7834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D0D18-651F-4A46-859B-18BB334FF18F}" type="datetimeFigureOut">
              <a:rPr lang="en-US" smtClean="0"/>
              <a:t>10/21/25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5C071-BCC8-42AF-A783-D0D9F3CF46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10095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D0D18-651F-4A46-859B-18BB334FF18F}" type="datetimeFigureOut">
              <a:rPr lang="en-US" smtClean="0"/>
              <a:t>10/21/25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5C071-BCC8-42AF-A783-D0D9F3CF46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649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D0D18-651F-4A46-859B-18BB334FF18F}" type="datetimeFigureOut">
              <a:rPr lang="en-US" smtClean="0"/>
              <a:t>10/21/25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5C071-BCC8-42AF-A783-D0D9F3CF46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25586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D0D18-651F-4A46-859B-18BB334FF18F}" type="datetimeFigureOut">
              <a:rPr lang="en-US" smtClean="0"/>
              <a:t>10/21/25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5C071-BCC8-42AF-A783-D0D9F3CF46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6990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D0D18-651F-4A46-859B-18BB334FF18F}" type="datetimeFigureOut">
              <a:rPr lang="en-US" smtClean="0"/>
              <a:t>10/21/25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5C071-BCC8-42AF-A783-D0D9F3CF46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0389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D0D18-651F-4A46-859B-18BB334FF18F}" type="datetimeFigureOut">
              <a:rPr lang="en-US" smtClean="0"/>
              <a:t>10/21/25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5C071-BCC8-42AF-A783-D0D9F3CF46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5975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D0D18-651F-4A46-859B-18BB334FF18F}" type="datetimeFigureOut">
              <a:rPr lang="en-US" smtClean="0"/>
              <a:t>10/21/25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5C071-BCC8-42AF-A783-D0D9F3CF46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3189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D0D18-651F-4A46-859B-18BB334FF18F}" type="datetimeFigureOut">
              <a:rPr lang="en-US" smtClean="0"/>
              <a:t>10/21/25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5C071-BCC8-42AF-A783-D0D9F3CF46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3770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D0D18-651F-4A46-859B-18BB334FF18F}" type="datetimeFigureOut">
              <a:rPr lang="en-US" smtClean="0"/>
              <a:t>10/21/25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5C071-BCC8-42AF-A783-D0D9F3CF46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0730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D0D18-651F-4A46-859B-18BB334FF18F}" type="datetimeFigureOut">
              <a:rPr lang="en-US" smtClean="0"/>
              <a:t>10/21/25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5C071-BCC8-42AF-A783-D0D9F3CF46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450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ED0D18-651F-4A46-859B-18BB334FF18F}" type="datetimeFigureOut">
              <a:rPr lang="en-US" smtClean="0"/>
              <a:t>10/21/25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45C071-BCC8-42AF-A783-D0D9F3CF46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2501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2608" y="1496601"/>
            <a:ext cx="8690993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4800">
                <a:latin typeface="Times New Roman" panose="02020603050405020304" pitchFamily="18" charset="0"/>
                <a:cs typeface="Times New Roman" panose="02020603050405020304" pitchFamily="18" charset="0"/>
              </a:rPr>
              <a:t>Practical 5: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Examining and extending our shallow-ice model</a:t>
            </a:r>
            <a:endParaRPr lang="en-US" sz="4800" dirty="0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0" y="289864"/>
            <a:ext cx="8002720" cy="15755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sz="2800" dirty="0"/>
              <a:t>Glaciology</a:t>
            </a:r>
            <a:br>
              <a:rPr lang="en-US" sz="2800" dirty="0"/>
            </a:br>
            <a:r>
              <a:rPr lang="en-US" sz="2000" dirty="0"/>
              <a:t>EESCGU4220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79248" y="3156058"/>
            <a:ext cx="8002720" cy="15755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endParaRPr lang="en-US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25835B-508F-667D-2EC5-75FF70C0716D}"/>
              </a:ext>
            </a:extLst>
          </p:cNvPr>
          <p:cNvSpPr txBox="1"/>
          <p:nvPr/>
        </p:nvSpPr>
        <p:spPr>
          <a:xfrm>
            <a:off x="2639780" y="5011662"/>
            <a:ext cx="3996647" cy="14773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/>
              <a:t>Two assignments:</a:t>
            </a:r>
          </a:p>
          <a:p>
            <a:pPr marL="285750" indent="-285750">
              <a:buFontTx/>
              <a:buChar char="-"/>
            </a:pPr>
            <a:r>
              <a:rPr lang="en-US"/>
              <a:t>Complete points 1 and 2 on next slide by Nov 6</a:t>
            </a:r>
            <a:r>
              <a:rPr lang="en-US" baseline="30000"/>
              <a:t>th</a:t>
            </a:r>
            <a:endParaRPr lang="en-US"/>
          </a:p>
          <a:p>
            <a:pPr marL="285750" indent="-285750">
              <a:buFontTx/>
              <a:buChar char="-"/>
            </a:pPr>
            <a:r>
              <a:rPr lang="en-US"/>
              <a:t>½ page describing your plan for the final project by Nov 6</a:t>
            </a:r>
            <a:r>
              <a:rPr lang="en-US" baseline="30000"/>
              <a:t>th</a:t>
            </a:r>
            <a:r>
              <a:rPr lang="en-US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7786930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46304" y="-557784"/>
            <a:ext cx="8869680" cy="7325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endParaRPr lang="en-US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r>
              <a:rPr lang="en-US" sz="1600" b="1" dirty="0">
                <a:solidFill>
                  <a:srgbClr val="FF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1. Sensitivity to model parameters</a:t>
            </a:r>
          </a:p>
          <a:p>
            <a:r>
              <a:rPr lang="en-US" sz="1600" dirty="0">
                <a:solidFill>
                  <a:srgbClr val="FF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- make your code into a function so it can easily be called while varying A and recording some metric of the ice sheet once it is steady state. </a:t>
            </a:r>
          </a:p>
          <a:p>
            <a:endParaRPr lang="en-US" sz="1600" dirty="0">
              <a:solidFill>
                <a:srgbClr val="FF0000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  <a:p>
            <a:r>
              <a:rPr lang="en-US" sz="1600" dirty="0">
                <a:solidFill>
                  <a:srgbClr val="FF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- write a simple script to call the function many times with different physical parameters and plot the metric as a fn. of </a:t>
            </a:r>
            <a:r>
              <a:rPr lang="en-US" sz="1600" i="1" dirty="0">
                <a:solidFill>
                  <a:srgbClr val="FF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A</a:t>
            </a:r>
            <a:r>
              <a:rPr lang="en-US" sz="1600" dirty="0">
                <a:solidFill>
                  <a:srgbClr val="FF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(with A along the horizontal axis). </a:t>
            </a:r>
          </a:p>
          <a:p>
            <a:endParaRPr lang="en-US" sz="1600" dirty="0">
              <a:solidFill>
                <a:srgbClr val="FF0000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  <a:p>
            <a:endParaRPr lang="en-US" sz="16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r>
              <a:rPr lang="en-US" sz="1600" b="1" dirty="0">
                <a:solidFill>
                  <a:srgbClr val="00B05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2. Transience</a:t>
            </a:r>
          </a:p>
          <a:p>
            <a:r>
              <a:rPr lang="en-US" sz="1600" b="1" dirty="0">
                <a:solidFill>
                  <a:srgbClr val="00B05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- </a:t>
            </a:r>
            <a:r>
              <a:rPr lang="en-US" sz="1600" dirty="0">
                <a:solidFill>
                  <a:srgbClr val="00B05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write a new function which runs the model with a sinusoidally-varying equilibrium line position. </a:t>
            </a:r>
          </a:p>
          <a:p>
            <a:r>
              <a:rPr lang="en-US" sz="1600" dirty="0">
                <a:solidFill>
                  <a:srgbClr val="00B05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	</a:t>
            </a:r>
          </a:p>
          <a:p>
            <a:r>
              <a:rPr lang="en-US" sz="1600" dirty="0">
                <a:solidFill>
                  <a:srgbClr val="00B05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- plot a time-varying metric (e.g. ice thickness at some location) against time. </a:t>
            </a:r>
          </a:p>
          <a:p>
            <a:endParaRPr lang="en-US" sz="1600" dirty="0">
              <a:solidFill>
                <a:srgbClr val="00B050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  <a:p>
            <a:r>
              <a:rPr lang="en-US" sz="1600" dirty="0">
                <a:solidFill>
                  <a:srgbClr val="00B05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- plot this metric against equilibrium line position as both vary throughout a model run. (this is a phase-space plot).</a:t>
            </a:r>
          </a:p>
          <a:p>
            <a:endParaRPr lang="en-US" sz="1600" dirty="0">
              <a:solidFill>
                <a:srgbClr val="00B050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  <a:p>
            <a:r>
              <a:rPr lang="en-US" sz="1600" dirty="0">
                <a:solidFill>
                  <a:srgbClr val="00B05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- examine how the shape of the phase-space plot changes as you vary the period of the 	sinusoidal variation in equilibrium line position.</a:t>
            </a:r>
          </a:p>
          <a:p>
            <a:endParaRPr lang="en-US" sz="1600" dirty="0">
              <a:solidFill>
                <a:srgbClr val="00B050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  <a:p>
            <a:r>
              <a:rPr lang="en-US" sz="1600" b="1" dirty="0">
                <a:latin typeface="Times" panose="02020603050405020304" pitchFamily="18" charset="0"/>
                <a:cs typeface="Times" panose="02020603050405020304" pitchFamily="18" charset="0"/>
              </a:rPr>
              <a:t>3. A spatially-varying bed</a:t>
            </a:r>
          </a:p>
          <a:p>
            <a:r>
              <a:rPr lang="en-US" sz="1600" dirty="0">
                <a:latin typeface="Times" panose="02020603050405020304" pitchFamily="18" charset="0"/>
                <a:cs typeface="Times" panose="02020603050405020304" pitchFamily="18" charset="0"/>
              </a:rPr>
              <a:t>- write a new function that allows the bed elevation to vary. This will require modifying the model equations a little. </a:t>
            </a:r>
          </a:p>
          <a:p>
            <a:r>
              <a:rPr lang="en-US" sz="1600" dirty="0">
                <a:latin typeface="Times" panose="02020603050405020304" pitchFamily="18" charset="0"/>
                <a:cs typeface="Times" panose="02020603050405020304" pitchFamily="18" charset="0"/>
              </a:rPr>
              <a:t>	</a:t>
            </a:r>
            <a:endParaRPr lang="en-US" sz="12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r>
              <a:rPr lang="en-US" sz="1600" dirty="0">
                <a:latin typeface="Times" panose="02020603050405020304" pitchFamily="18" charset="0"/>
                <a:cs typeface="Times" panose="02020603050405020304" pitchFamily="18" charset="0"/>
              </a:rPr>
              <a:t>- examine the affect of adding bedrock mounds on ice dynamics. </a:t>
            </a:r>
          </a:p>
          <a:p>
            <a:endParaRPr lang="en-US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r>
              <a:rPr lang="en-US" sz="3200" dirty="0">
                <a:latin typeface="Times" panose="02020603050405020304" pitchFamily="18" charset="0"/>
                <a:cs typeface="Times" panose="02020603050405020304" pitchFamily="18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4226311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49624</TotalTime>
  <Words>237</Words>
  <Application>Microsoft Macintosh PowerPoint</Application>
  <PresentationFormat>On-screen Show (4:3)</PresentationFormat>
  <Paragraphs>30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Arial</vt:lpstr>
      <vt:lpstr>Calibri</vt:lpstr>
      <vt:lpstr>Calibri Light</vt:lpstr>
      <vt:lpstr>Times</vt:lpstr>
      <vt:lpstr>Times New Roman</vt:lpstr>
      <vt:lpstr>Office Theme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full Shallow Ice Approximation model:</dc:title>
  <dc:creator>J Kingslake</dc:creator>
  <cp:lastModifiedBy>jkingslake</cp:lastModifiedBy>
  <cp:revision>25</cp:revision>
  <dcterms:created xsi:type="dcterms:W3CDTF">2018-02-08T16:45:27Z</dcterms:created>
  <dcterms:modified xsi:type="dcterms:W3CDTF">2025-10-21T16:39:46Z</dcterms:modified>
</cp:coreProperties>
</file>