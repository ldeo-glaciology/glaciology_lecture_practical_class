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6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83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0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4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5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9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3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9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8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7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D0D18-651F-4A46-859B-18BB334FF18F}" type="datetimeFigureOut">
              <a:rPr lang="en-US" smtClean="0"/>
              <a:t>3/30/20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5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Mbo6XzZjw1YCItBeA9DOXqW5iVpXzEUU/view?usp=sharing" TargetMode="External"/><Relationship Id="rId2" Type="http://schemas.openxmlformats.org/officeDocument/2006/relationships/hyperlink" Target="https://drive.google.com/file/d/1bh88YHW0iv-p3TwxseJRXXDO-2FZoBQ0/view?usp=sharing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608" y="1496601"/>
            <a:ext cx="86909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Practical 6: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" panose="02020603050405020304" pitchFamily="18" charset="0"/>
                <a:cs typeface="Times" panose="02020603050405020304" pitchFamily="18" charset="0"/>
              </a:rPr>
              <a:t>Comparing SIA to measured flow speeds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289864"/>
            <a:ext cx="8002720" cy="157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dirty="0"/>
              <a:t>Glaciology</a:t>
            </a:r>
            <a:br>
              <a:rPr lang="en-US" sz="2800" dirty="0"/>
            </a:br>
            <a:r>
              <a:rPr lang="en-US" sz="2000" dirty="0"/>
              <a:t>EESCGU4220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9248" y="3156058"/>
            <a:ext cx="8002720" cy="157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869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9281" y="-463551"/>
            <a:ext cx="10082561" cy="778510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D248-1A81-4921-A592-9D550EF49DA3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3080" b="13202"/>
          <a:stretch/>
        </p:blipFill>
        <p:spPr>
          <a:xfrm>
            <a:off x="3257550" y="149034"/>
            <a:ext cx="4181475" cy="15524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0205" t="7896" r="20945" b="6653"/>
          <a:stretch/>
        </p:blipFill>
        <p:spPr>
          <a:xfrm>
            <a:off x="6143625" y="4810124"/>
            <a:ext cx="2066925" cy="1752601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6524625" y="5438776"/>
            <a:ext cx="352425" cy="2286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3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5448" y="299223"/>
            <a:ext cx="8720457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" panose="02020603050405020304" pitchFamily="18" charset="0"/>
                <a:cs typeface="Times" panose="02020603050405020304" pitchFamily="18" charset="0"/>
              </a:rPr>
              <a:t>Download the data from here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dirty="0">
                <a:hlinkClick r:id="rId2"/>
              </a:rPr>
              <a:t>https://drive.google.com/file/d/1bh88YHW0iv-p3TwxseJRXXDO-2FZoBQ0/view?usp=sharing</a:t>
            </a:r>
            <a:br>
              <a:rPr lang="en-US" sz="2000" dirty="0"/>
            </a:br>
            <a:r>
              <a:rPr lang="en-US" dirty="0"/>
              <a:t>and</a:t>
            </a:r>
            <a:br>
              <a:rPr lang="en-US" sz="2000" dirty="0"/>
            </a:br>
            <a:r>
              <a:rPr lang="en-US" dirty="0">
                <a:hlinkClick r:id="rId3"/>
              </a:rPr>
              <a:t>https://drive.google.com/file/d/1Mbo6XzZjw1YCItBeA9DOXqW5iVpXzEUU/view?usp=sharing</a:t>
            </a:r>
            <a:endParaRPr lang="en-US" dirty="0"/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b="1" u="sng" dirty="0">
                <a:latin typeface="Times" panose="02020603050405020304" pitchFamily="18" charset="0"/>
                <a:cs typeface="Times" panose="02020603050405020304" pitchFamily="18" charset="0"/>
              </a:rPr>
              <a:t>Goal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: create a script to compare measured speed (contained in </a:t>
            </a:r>
            <a:r>
              <a:rPr lang="en-US" sz="2000" b="1" dirty="0" err="1">
                <a:latin typeface="Times" panose="02020603050405020304" pitchFamily="18" charset="0"/>
                <a:cs typeface="Times" panose="02020603050405020304" pitchFamily="18" charset="0"/>
              </a:rPr>
              <a:t>MeasuredSpeed.mat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) to speed computed using the SIA, along lines in Antarctica. </a:t>
            </a:r>
          </a:p>
          <a:p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Start with</a:t>
            </a:r>
          </a:p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P4_MissingCode.m</a:t>
            </a:r>
            <a:endParaRPr lang="en-US" sz="16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1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400" b="1" dirty="0">
                <a:latin typeface="Times" panose="02020603050405020304" pitchFamily="18" charset="0"/>
                <a:cs typeface="Times" panose="02020603050405020304" pitchFamily="18" charset="0"/>
              </a:rPr>
              <a:t>Notes:</a:t>
            </a:r>
          </a:p>
          <a:p>
            <a:r>
              <a:rPr lang="en-US" sz="1400" b="1" dirty="0" err="1">
                <a:latin typeface="Times" panose="02020603050405020304" pitchFamily="18" charset="0"/>
                <a:cs typeface="Times" panose="02020603050405020304" pitchFamily="18" charset="0"/>
              </a:rPr>
              <a:t>MeasuredSpeed.mat</a:t>
            </a:r>
            <a:endParaRPr lang="en-US" sz="1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contains maps of the two components of horizontal surface velocity at the surface of the Antarctic ice sheet.  </a:t>
            </a:r>
            <a:r>
              <a:rPr lang="en-US" sz="1400" i="1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US" sz="1400" i="1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are polar stereographic coordinates in meters. </a:t>
            </a:r>
            <a:r>
              <a:rPr lang="en-US" sz="1400" i="1" dirty="0" err="1">
                <a:latin typeface="Times" panose="02020603050405020304" pitchFamily="18" charset="0"/>
                <a:cs typeface="Times" panose="02020603050405020304" pitchFamily="18" charset="0"/>
              </a:rPr>
              <a:t>Vx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US" sz="1400" i="1" dirty="0" err="1">
                <a:latin typeface="Times" panose="02020603050405020304" pitchFamily="18" charset="0"/>
                <a:cs typeface="Times" panose="02020603050405020304" pitchFamily="18" charset="0"/>
              </a:rPr>
              <a:t>Vy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are the two horizontal components of surface speed in meters/year</a:t>
            </a:r>
          </a:p>
          <a:p>
            <a:endParaRPr 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400" b="1" dirty="0">
                <a:latin typeface="Times" panose="02020603050405020304" pitchFamily="18" charset="0"/>
                <a:cs typeface="Times" panose="02020603050405020304" pitchFamily="18" charset="0"/>
              </a:rPr>
              <a:t>Bedmap2.mat</a:t>
            </a:r>
          </a:p>
          <a:p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contains maps of ice thickness and slope on a different grid to the speed data. </a:t>
            </a:r>
            <a:r>
              <a:rPr lang="en-US" sz="1400" i="1" dirty="0" err="1">
                <a:latin typeface="Times" panose="02020603050405020304" pitchFamily="18" charset="0"/>
                <a:cs typeface="Times" panose="02020603050405020304" pitchFamily="18" charset="0"/>
              </a:rPr>
              <a:t>x_bedmap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US" sz="1400" i="1" dirty="0" err="1">
                <a:latin typeface="Times" panose="02020603050405020304" pitchFamily="18" charset="0"/>
                <a:cs typeface="Times" panose="02020603050405020304" pitchFamily="18" charset="0"/>
              </a:rPr>
              <a:t>y_bedmap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are polar stereographic coordinates in meters. </a:t>
            </a:r>
            <a:r>
              <a:rPr lang="en-US" sz="1400" i="1" dirty="0">
                <a:latin typeface="Times" panose="02020603050405020304" pitchFamily="18" charset="0"/>
                <a:cs typeface="Times" panose="02020603050405020304" pitchFamily="18" charset="0"/>
              </a:rPr>
              <a:t>thickness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is ice thickness in meters. </a:t>
            </a:r>
            <a:r>
              <a:rPr lang="en-US" sz="1400" i="1" dirty="0">
                <a:latin typeface="Times" panose="02020603050405020304" pitchFamily="18" charset="0"/>
                <a:cs typeface="Times" panose="02020603050405020304" pitchFamily="18" charset="0"/>
              </a:rPr>
              <a:t>slope</a:t>
            </a: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is surface slope (dimensionless). </a:t>
            </a: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31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AA5C-2320-7E4D-92B9-091D8C565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51" y="134304"/>
            <a:ext cx="7886700" cy="683278"/>
          </a:xfrm>
        </p:spPr>
        <p:txBody>
          <a:bodyPr>
            <a:normAutofit/>
          </a:bodyPr>
          <a:lstStyle/>
          <a:p>
            <a:r>
              <a:rPr lang="en-US" sz="2800" dirty="0"/>
              <a:t>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637E3-DBE9-5F4F-B832-C577A2E5E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133" y="817582"/>
            <a:ext cx="7983518" cy="5766098"/>
          </a:xfrm>
        </p:spPr>
        <p:txBody>
          <a:bodyPr numCol="2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0. load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 load('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MeasuredSpeed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')   % This comes from an model inversion (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Arthern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 et al., 2015), which is closely constrained by satellite observations of flow 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spped</a:t>
            </a:r>
            <a:endParaRPr lang="en-US" sz="600" dirty="0">
              <a:solidFill>
                <a:srgbClr val="3C763D"/>
              </a:solidFill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 load('BedMap2_forP4')         % This is a data product derived from continent-wide observations of ice thickness and 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surfaec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 elevation.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1. plot a map of speed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close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all</a:t>
            </a: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figure(1)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speed =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latin typeface="Helvetica" pitchFamily="2" charset="0"/>
              </a:rPr>
              <a:t>imagesc</a:t>
            </a:r>
            <a:r>
              <a:rPr lang="en-US" sz="600" dirty="0">
                <a:latin typeface="Helvetica" pitchFamily="2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xlabel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'x [km]'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ylabel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'y [km]'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title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'Speed [m </a:t>
            </a:r>
            <a:r>
              <a:rPr lang="en-US" sz="600" dirty="0" err="1">
                <a:solidFill>
                  <a:srgbClr val="A020F0"/>
                </a:solidFill>
                <a:latin typeface="Helvetica" pitchFamily="2" charset="0"/>
              </a:rPr>
              <a:t>yr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^-^1]'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latin typeface="Helvetica" pitchFamily="2" charset="0"/>
              </a:rPr>
              <a:t>caxis</a:t>
            </a:r>
            <a:r>
              <a:rPr lang="en-US" sz="600" dirty="0">
                <a:latin typeface="Helvetica" pitchFamily="2" charset="0"/>
              </a:rPr>
              <a:t>([0 100])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set(</a:t>
            </a: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gca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,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</a:t>
            </a:r>
            <a:r>
              <a:rPr lang="en-US" sz="600" dirty="0" err="1">
                <a:solidFill>
                  <a:srgbClr val="A020F0"/>
                </a:solidFill>
                <a:latin typeface="Helvetica" pitchFamily="2" charset="0"/>
              </a:rPr>
              <a:t>YDir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,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'normal'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)</a:t>
            </a:r>
            <a:endParaRPr lang="en-US" sz="600" dirty="0">
              <a:solidFill>
                <a:srgbClr val="A020F0"/>
              </a:solidFill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2. ask the user to choose the start and end points of the profile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P = </a:t>
            </a:r>
            <a:r>
              <a:rPr lang="en-US" sz="600" dirty="0" err="1">
                <a:latin typeface="Helvetica" pitchFamily="2" charset="0"/>
              </a:rPr>
              <a:t>ginput</a:t>
            </a:r>
            <a:r>
              <a:rPr lang="en-US" sz="600" dirty="0">
                <a:latin typeface="Helvetica" pitchFamily="2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3. use the start and ends points to calculate a line of points in between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latin typeface="Helvetica" pitchFamily="2" charset="0"/>
              </a:rPr>
              <a:t>numberofpoints</a:t>
            </a:r>
            <a:r>
              <a:rPr lang="en-US" sz="600" dirty="0">
                <a:latin typeface="Helvetica" pitchFamily="2" charset="0"/>
              </a:rPr>
              <a:t> = 500;  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latin typeface="Helvetica" pitchFamily="2" charset="0"/>
              </a:rPr>
              <a:t>x_i</a:t>
            </a:r>
            <a:r>
              <a:rPr lang="en-US" sz="600" dirty="0">
                <a:latin typeface="Helvetica" pitchFamily="2" charset="0"/>
              </a:rPr>
              <a:t> = </a:t>
            </a:r>
            <a:r>
              <a:rPr lang="en-US" sz="600" dirty="0" err="1">
                <a:latin typeface="Helvetica" pitchFamily="2" charset="0"/>
              </a:rPr>
              <a:t>linspace</a:t>
            </a:r>
            <a:r>
              <a:rPr lang="en-US" sz="600" dirty="0">
                <a:latin typeface="Helvetica" pitchFamily="2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latin typeface="Helvetica" pitchFamily="2" charset="0"/>
              </a:rPr>
              <a:t>y_i</a:t>
            </a:r>
            <a:r>
              <a:rPr lang="en-US" sz="600" dirty="0">
                <a:latin typeface="Helvetica" pitchFamily="2" charset="0"/>
              </a:rPr>
              <a:t> = </a:t>
            </a:r>
            <a:r>
              <a:rPr lang="en-US" sz="600" dirty="0" err="1">
                <a:latin typeface="Helvetica" pitchFamily="2" charset="0"/>
              </a:rPr>
              <a:t>linspace</a:t>
            </a:r>
            <a:r>
              <a:rPr lang="en-US" sz="600" dirty="0">
                <a:latin typeface="Helvetica" pitchFamily="2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4. plot the line on the map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hold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on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plot(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5.interpolate and plot speed (from 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Measuredelocities.m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; 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Arthern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 et al., 2015) at each point along the line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latin typeface="Helvetica" pitchFamily="2" charset="0"/>
              </a:rPr>
              <a:t>u_i</a:t>
            </a:r>
            <a:r>
              <a:rPr lang="en-US" sz="600" dirty="0">
                <a:latin typeface="Helvetica" pitchFamily="2" charset="0"/>
              </a:rPr>
              <a:t> = interp2(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figure 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subplot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311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plot(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xlabel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'point number'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ylabel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'speed [m </a:t>
            </a:r>
            <a:r>
              <a:rPr lang="en-US" sz="600" dirty="0" err="1">
                <a:solidFill>
                  <a:srgbClr val="A020F0"/>
                </a:solidFill>
                <a:latin typeface="Helvetica" pitchFamily="2" charset="0"/>
              </a:rPr>
              <a:t>yr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^-^1]'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6. interpolate and plot thickness (from Bedmap2) at each point along the line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latin typeface="Helvetica" pitchFamily="2" charset="0"/>
              </a:rPr>
              <a:t>h_i</a:t>
            </a:r>
            <a:r>
              <a:rPr lang="en-US" sz="600" dirty="0">
                <a:latin typeface="Helvetica" pitchFamily="2" charset="0"/>
              </a:rPr>
              <a:t> = interp2(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figure 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subplot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312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plot(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xlabel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'point number'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ylabel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'thickness [m]'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7. interpolate and plot slope (from Bedmap2) at each point along the line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s = interp2(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figure 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subplot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313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plot(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xlabel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'point number'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ylabel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'slope [-]'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8. smooth the slope profile with 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smooth.m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  (try a moving average with a window of 100)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latin typeface="Helvetica" pitchFamily="2" charset="0"/>
              </a:rPr>
              <a:t>s_smooth</a:t>
            </a:r>
            <a:r>
              <a:rPr lang="en-US" sz="600" dirty="0">
                <a:latin typeface="Helvetica" pitchFamily="2" charset="0"/>
              </a:rPr>
              <a:t> = smooth(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figure 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subplot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313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hold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on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plot(</a:t>
            </a:r>
            <a:r>
              <a:rPr lang="en-US" sz="600" dirty="0" err="1">
                <a:latin typeface="Helvetica" pitchFamily="2" charset="0"/>
              </a:rPr>
              <a:t>s_smooth,</a:t>
            </a:r>
            <a:r>
              <a:rPr lang="en-US" sz="600" dirty="0" err="1">
                <a:solidFill>
                  <a:srgbClr val="A020F0"/>
                </a:solidFill>
                <a:latin typeface="Helvetica" pitchFamily="2" charset="0"/>
              </a:rPr>
              <a:t>'k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</a:t>
            </a:r>
            <a:r>
              <a:rPr lang="en-US" sz="600" dirty="0">
                <a:latin typeface="Helvetica" pitchFamily="2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legend(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</a:t>
            </a:r>
            <a:r>
              <a:rPr lang="en-US" sz="600" dirty="0" err="1">
                <a:solidFill>
                  <a:srgbClr val="A020F0"/>
                </a:solidFill>
                <a:latin typeface="Helvetica" pitchFamily="2" charset="0"/>
              </a:rPr>
              <a:t>Slope'</a:t>
            </a: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,</a:t>
            </a:r>
            <a:r>
              <a:rPr lang="en-US" sz="600" dirty="0" err="1">
                <a:solidFill>
                  <a:srgbClr val="A020F0"/>
                </a:solidFill>
                <a:latin typeface="Helvetica" pitchFamily="2" charset="0"/>
              </a:rPr>
              <a:t>'Smoothed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 slope'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)</a:t>
            </a:r>
            <a:endParaRPr lang="en-US" sz="600" dirty="0">
              <a:solidFill>
                <a:srgbClr val="A020F0"/>
              </a:solidFill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8. compute surface speed (constants copied over from 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SIA.m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 constants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n = 3;                        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 Glen's flow law exponent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A = 24e-25 *(365*24*60*60);   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 Glen's flow law parameter original value from 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Cuffey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 and Paterson 24e-25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rho=917;                      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 ice density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g=9.8;                        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 acceleration due to gravity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 use equation from slide 30 of lecture 6 to compute surface speed u(H)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latin typeface="Helvetica" pitchFamily="2" charset="0"/>
              </a:rPr>
              <a:t>u_m</a:t>
            </a:r>
            <a:r>
              <a:rPr lang="en-US" sz="600" dirty="0">
                <a:latin typeface="Helvetica" pitchFamily="2" charset="0"/>
              </a:rPr>
              <a:t> =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 plot over the measured speed for comparison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figure 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subplot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311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hold 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on</a:t>
            </a: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plot(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legend(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'</a:t>
            </a:r>
            <a:r>
              <a:rPr lang="en-US" sz="600" dirty="0" err="1">
                <a:solidFill>
                  <a:srgbClr val="A020F0"/>
                </a:solidFill>
                <a:latin typeface="Helvetica" pitchFamily="2" charset="0"/>
              </a:rPr>
              <a:t>Speed'</a:t>
            </a:r>
            <a:r>
              <a:rPr lang="en-US" sz="600" dirty="0" err="1">
                <a:solidFill>
                  <a:srgbClr val="000000"/>
                </a:solidFill>
                <a:latin typeface="Helvetica" pitchFamily="2" charset="0"/>
              </a:rPr>
              <a:t>,</a:t>
            </a:r>
            <a:r>
              <a:rPr lang="en-US" sz="600" dirty="0" err="1">
                <a:solidFill>
                  <a:srgbClr val="A020F0"/>
                </a:solidFill>
                <a:latin typeface="Helvetica" pitchFamily="2" charset="0"/>
              </a:rPr>
              <a:t>'Modelled</a:t>
            </a:r>
            <a:r>
              <a:rPr lang="en-US" sz="600" dirty="0">
                <a:solidFill>
                  <a:srgbClr val="A020F0"/>
                </a:solidFill>
                <a:latin typeface="Helvetica" pitchFamily="2" charset="0"/>
              </a:rPr>
              <a:t> Speed'</a:t>
            </a:r>
            <a:r>
              <a:rPr lang="en-US" sz="600" dirty="0">
                <a:solidFill>
                  <a:srgbClr val="000000"/>
                </a:solidFill>
                <a:latin typeface="Helvetica" pitchFamily="2" charset="0"/>
              </a:rPr>
              <a:t>)</a:t>
            </a:r>
            <a:endParaRPr lang="en-US" sz="600" dirty="0">
              <a:solidFill>
                <a:srgbClr val="A020F0"/>
              </a:solidFill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%% References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Arthern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, Robert J., Richard CA 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Hindmarsh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, and C. Rosie Williams.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"Flow speed within the Antarctic ice sheet and its controls inferred from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satellite observations." Journal of Geophysical Research 120, no. 7 (2015): 1171-1188.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Fretwell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, Peter, Hamish D. Pritchard, David G. Vaughan, Jonathan L. Bamber,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 N. E. </a:t>
            </a:r>
            <a:r>
              <a:rPr lang="en-US" sz="600" dirty="0" err="1">
                <a:solidFill>
                  <a:srgbClr val="3C763D"/>
                </a:solidFill>
                <a:latin typeface="Helvetica" pitchFamily="2" charset="0"/>
              </a:rPr>
              <a:t>Barrand</a:t>
            </a: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, R. Bell, C. Bianchi et al. "Bedmap2: improved ice bed,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surface and thickness datasets for Antarctica." (2013).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" dirty="0">
                <a:solidFill>
                  <a:srgbClr val="3C763D"/>
                </a:solidFill>
                <a:latin typeface="Helvetica" pitchFamily="2" charset="0"/>
              </a:rPr>
              <a:t>%}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600" dirty="0">
                <a:latin typeface="Helvetica" pitchFamily="2" charset="0"/>
              </a:rPr>
            </a:br>
            <a:endParaRPr lang="en-US" sz="600" dirty="0">
              <a:latin typeface="Helvetic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8970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7F539D-6A20-44F5-8937-95F9D7D78BBD}">
  <we:reference id="wa104038830" version="1.0.0.3" store="en-US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8421</TotalTime>
  <Words>772</Words>
  <Application>Microsoft Macintosh PowerPoint</Application>
  <PresentationFormat>On-screen Show (4:3)</PresentationFormat>
  <Paragraphs>114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Code: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full Shallow Ice Approximation model:</dc:title>
  <dc:creator>J Kingslake</dc:creator>
  <cp:lastModifiedBy>Jonny Kingslake</cp:lastModifiedBy>
  <cp:revision>26</cp:revision>
  <dcterms:created xsi:type="dcterms:W3CDTF">2018-02-08T16:45:27Z</dcterms:created>
  <dcterms:modified xsi:type="dcterms:W3CDTF">2020-03-30T22:55:04Z</dcterms:modified>
</cp:coreProperties>
</file>